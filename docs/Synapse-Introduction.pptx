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9" r:id="rId4"/>
    <p:sldId id="267" r:id="rId5"/>
    <p:sldId id="258" r:id="rId6"/>
    <p:sldId id="259" r:id="rId7"/>
    <p:sldId id="266" r:id="rId8"/>
    <p:sldId id="260" r:id="rId9"/>
    <p:sldId id="261" r:id="rId10"/>
    <p:sldId id="264" r:id="rId11"/>
    <p:sldId id="262" r:id="rId12"/>
    <p:sldId id="263" r:id="rId13"/>
    <p:sldId id="265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6648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E72B9-20B8-A71A-E118-684A893B0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4D4CE2-741A-2FAA-0449-718CDEDE57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E21899-5829-5ED1-6F13-3C21078704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C3C62F-6CDA-713E-ACC6-F4AFECC7E1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41607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408BD-1661-1C1E-CD6C-1C7E6C667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34F238-F4EC-402E-9840-47AA4FEFEE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42BFCC-528E-213E-1E22-0170A9EBCA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5C6F92-DC59-92F7-8ED5-657202021A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2240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67A52"/>
          </a:solidFill>
          <a:ln/>
        </p:spPr>
        <p:txBody>
          <a:bodyPr/>
          <a:lstStyle/>
          <a:p>
            <a:endParaRPr lang="en-CN"/>
          </a:p>
        </p:txBody>
      </p:sp>
      <p:pic>
        <p:nvPicPr>
          <p:cNvPr id="3" name="Image 0" descr="/Users/weiyihao/personal/Synapse/public/synapse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91440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7373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Synapse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548640" y="24688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6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Orchestration for Humans &amp; AI Agents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548640" y="310896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Synapse is a research orchestration platform where human researchers and AI agents collaborate on the full research lifecycle.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8284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8" name="Text 5"/>
          <p:cNvSpPr/>
          <p:nvPr/>
        </p:nvSpPr>
        <p:spPr>
          <a:xfrm>
            <a:off x="548640" y="480060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 •  Self-Hosted  •  AGPL-3.0  •  github.com/Vincentwei1021/Synapse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6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Research Works Today</a:t>
            </a:r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8046720" cy="658368"/>
          </a:xfrm>
          <a:prstGeom prst="roundRect">
            <a:avLst>
              <a:gd name="adj" fmla="val 11111"/>
            </a:avLst>
          </a:prstGeom>
          <a:solidFill>
            <a:srgbClr val="28284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731520" y="1591056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71600" y="156927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Context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1802498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in Zotero, code in GitHub, results in spreadsheets, notes in Slack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267712"/>
            <a:ext cx="8046720" cy="658368"/>
          </a:xfrm>
          <a:prstGeom prst="roundRect">
            <a:avLst>
              <a:gd name="adj" fmla="val 11111"/>
            </a:avLst>
          </a:prstGeom>
          <a:solidFill>
            <a:srgbClr val="28284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0" name="Text 8"/>
          <p:cNvSpPr/>
          <p:nvPr/>
        </p:nvSpPr>
        <p:spPr>
          <a:xfrm>
            <a:off x="731520" y="239572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71600" y="237394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Handoffs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71600" y="2596896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Copy-pasting between tools, re-explaining context to every collaborator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072384"/>
            <a:ext cx="8046720" cy="658368"/>
          </a:xfrm>
          <a:prstGeom prst="roundRect">
            <a:avLst>
              <a:gd name="adj" fmla="val 11111"/>
            </a:avLst>
          </a:prstGeom>
          <a:solidFill>
            <a:srgbClr val="28284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4" name="Text 12"/>
          <p:cNvSpPr/>
          <p:nvPr/>
        </p:nvSpPr>
        <p:spPr>
          <a:xfrm>
            <a:off x="731520" y="3201479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⏳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371600" y="317861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Cycles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71600" y="3411842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for GPUs, waiting for reviews, waiting for someone to run the next experiment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877056"/>
            <a:ext cx="8046720" cy="658368"/>
          </a:xfrm>
          <a:prstGeom prst="roundRect">
            <a:avLst>
              <a:gd name="adj" fmla="val 11111"/>
            </a:avLst>
          </a:prstGeom>
          <a:solidFill>
            <a:srgbClr val="28284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8" name="Text 16"/>
          <p:cNvSpPr/>
          <p:nvPr/>
        </p:nvSpPr>
        <p:spPr>
          <a:xfrm>
            <a:off x="731520" y="402223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📐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371600" y="398329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Linear-Only Execution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71600" y="4216514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follow sequential plans. Real research branches into parallel questions and iterates in loops, not straight lines.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293EB0-3001-DAF2-EAB9-AD30B1272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0832E94-A1CC-213E-C9DD-44D11F8D489B}"/>
              </a:ext>
            </a:extLst>
          </p:cNvPr>
          <p:cNvSpPr/>
          <p:nvPr/>
        </p:nvSpPr>
        <p:spPr>
          <a:xfrm>
            <a:off x="353434" y="293842"/>
            <a:ext cx="774204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300" normalizeH="0" baseline="0" noProof="0" dirty="0">
                <a:ln>
                  <a:noFill/>
                </a:ln>
                <a:solidFill>
                  <a:srgbClr val="C67A5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RELATED PROJECT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CD89A0E-3AE2-4A02-0AA8-060ADF46EB7B}"/>
              </a:ext>
            </a:extLst>
          </p:cNvPr>
          <p:cNvSpPr/>
          <p:nvPr/>
        </p:nvSpPr>
        <p:spPr>
          <a:xfrm>
            <a:off x="353434" y="522442"/>
            <a:ext cx="8516246" cy="4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autoresearch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1E2B1AB-5D76-AD38-ABDE-C364BBA652CB}"/>
              </a:ext>
            </a:extLst>
          </p:cNvPr>
          <p:cNvSpPr/>
          <p:nvPr/>
        </p:nvSpPr>
        <p:spPr>
          <a:xfrm>
            <a:off x="353434" y="950000"/>
            <a:ext cx="8516246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A0A0B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By Andrej Karpathy (ex-Tesla AI Director, OpenAI founding member, Stanford PhD)  —  github.com/karpathy/autoresearch  ★ 64.2k</a:t>
            </a:r>
          </a:p>
        </p:txBody>
      </p:sp>
      <p:sp>
        <p:nvSpPr>
          <p:cNvPr id="10" name="Box 1">
            <a:extLst>
              <a:ext uri="{FF2B5EF4-FFF2-40B4-BE49-F238E27FC236}">
                <a16:creationId xmlns:a16="http://schemas.microsoft.com/office/drawing/2014/main" id="{405A6C09-3A01-76E6-9459-025D0909DEFA}"/>
              </a:ext>
            </a:extLst>
          </p:cNvPr>
          <p:cNvSpPr/>
          <p:nvPr/>
        </p:nvSpPr>
        <p:spPr>
          <a:xfrm>
            <a:off x="1172000" y="1350000"/>
            <a:ext cx="1550000" cy="750000"/>
          </a:xfrm>
          <a:prstGeom prst="roundRect">
            <a:avLst>
              <a:gd name="adj" fmla="val 6000"/>
            </a:avLst>
          </a:prstGeom>
          <a:solidFill>
            <a:srgbClr val="282840"/>
          </a:solidFill>
          <a:ln w="19050">
            <a:solidFill>
              <a:srgbClr val="FFC000"/>
            </a:solidFill>
          </a:ln>
        </p:spPr>
        <p:txBody>
          <a:bodyPr wrap="square" lIns="91440" tIns="72000" rIns="9144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program.md</a:t>
            </a:r>
          </a:p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A0A0B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Markdown research instructions for AI agents</a:t>
            </a:r>
          </a:p>
        </p:txBody>
      </p:sp>
      <p:sp>
        <p:nvSpPr>
          <p:cNvPr id="20" name="Arrow 1">
            <a:extLst>
              <a:ext uri="{FF2B5EF4-FFF2-40B4-BE49-F238E27FC236}">
                <a16:creationId xmlns:a16="http://schemas.microsoft.com/office/drawing/2014/main" id="{45351FB8-40C8-36B0-D46A-0B0A50845CB5}"/>
              </a:ext>
            </a:extLst>
          </p:cNvPr>
          <p:cNvSpPr/>
          <p:nvPr/>
        </p:nvSpPr>
        <p:spPr>
          <a:xfrm>
            <a:off x="2742000" y="1655000"/>
            <a:ext cx="160000" cy="130000"/>
          </a:xfrm>
          <a:prstGeom prst="rightArrow">
            <a:avLst/>
          </a:prstGeom>
          <a:solidFill>
            <a:srgbClr val="6B6B80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Box 2">
            <a:extLst>
              <a:ext uri="{FF2B5EF4-FFF2-40B4-BE49-F238E27FC236}">
                <a16:creationId xmlns:a16="http://schemas.microsoft.com/office/drawing/2014/main" id="{2BDB6B6F-530A-5F55-D56F-2EC61EC19CA2}"/>
              </a:ext>
            </a:extLst>
          </p:cNvPr>
          <p:cNvSpPr/>
          <p:nvPr/>
        </p:nvSpPr>
        <p:spPr>
          <a:xfrm>
            <a:off x="2922000" y="1350000"/>
            <a:ext cx="1550000" cy="750000"/>
          </a:xfrm>
          <a:prstGeom prst="roundRect">
            <a:avLst>
              <a:gd name="adj" fmla="val 6000"/>
            </a:avLst>
          </a:prstGeom>
          <a:solidFill>
            <a:srgbClr val="282840"/>
          </a:solidFill>
          <a:ln w="19050">
            <a:solidFill>
              <a:srgbClr val="4A90D9"/>
            </a:solidFill>
          </a:ln>
        </p:spPr>
        <p:txBody>
          <a:bodyPr wrap="square" lIns="91440" tIns="72000" rIns="9144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Modify train.py</a:t>
            </a:r>
          </a:p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A0A0B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Agent edits model architecture and hyperparams</a:t>
            </a:r>
          </a:p>
        </p:txBody>
      </p:sp>
      <p:sp>
        <p:nvSpPr>
          <p:cNvPr id="21" name="Arrow 2">
            <a:extLst>
              <a:ext uri="{FF2B5EF4-FFF2-40B4-BE49-F238E27FC236}">
                <a16:creationId xmlns:a16="http://schemas.microsoft.com/office/drawing/2014/main" id="{89448372-A8F3-A2F6-6E87-C11834212F9B}"/>
              </a:ext>
            </a:extLst>
          </p:cNvPr>
          <p:cNvSpPr/>
          <p:nvPr/>
        </p:nvSpPr>
        <p:spPr>
          <a:xfrm>
            <a:off x="4492000" y="1655000"/>
            <a:ext cx="160000" cy="130000"/>
          </a:xfrm>
          <a:prstGeom prst="rightArrow">
            <a:avLst/>
          </a:prstGeom>
          <a:solidFill>
            <a:srgbClr val="6B6B80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Box 3">
            <a:extLst>
              <a:ext uri="{FF2B5EF4-FFF2-40B4-BE49-F238E27FC236}">
                <a16:creationId xmlns:a16="http://schemas.microsoft.com/office/drawing/2014/main" id="{D0D0B630-B1FD-C9BA-0A59-63B8121CB1CD}"/>
              </a:ext>
            </a:extLst>
          </p:cNvPr>
          <p:cNvSpPr/>
          <p:nvPr/>
        </p:nvSpPr>
        <p:spPr>
          <a:xfrm>
            <a:off x="4672000" y="1350000"/>
            <a:ext cx="1550000" cy="750000"/>
          </a:xfrm>
          <a:prstGeom prst="roundRect">
            <a:avLst>
              <a:gd name="adj" fmla="val 6000"/>
            </a:avLst>
          </a:prstGeom>
          <a:solidFill>
            <a:srgbClr val="282840"/>
          </a:solidFill>
          <a:ln w="19050">
            <a:solidFill>
              <a:srgbClr val="2A9D8F"/>
            </a:solidFill>
          </a:ln>
        </p:spPr>
        <p:txBody>
          <a:bodyPr wrap="square" lIns="91440" tIns="72000" rIns="9144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Train 5 min</a:t>
            </a:r>
          </a:p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A0A0B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Fixed wall-clock budget on a single GPU</a:t>
            </a:r>
          </a:p>
        </p:txBody>
      </p:sp>
      <p:sp>
        <p:nvSpPr>
          <p:cNvPr id="22" name="Arrow 3">
            <a:extLst>
              <a:ext uri="{FF2B5EF4-FFF2-40B4-BE49-F238E27FC236}">
                <a16:creationId xmlns:a16="http://schemas.microsoft.com/office/drawing/2014/main" id="{3B1B42B1-498E-52AB-2406-1D9CBA5E5629}"/>
              </a:ext>
            </a:extLst>
          </p:cNvPr>
          <p:cNvSpPr/>
          <p:nvPr/>
        </p:nvSpPr>
        <p:spPr>
          <a:xfrm>
            <a:off x="6242000" y="1655000"/>
            <a:ext cx="160000" cy="130000"/>
          </a:xfrm>
          <a:prstGeom prst="rightArrow">
            <a:avLst/>
          </a:prstGeom>
          <a:solidFill>
            <a:srgbClr val="6B6B80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Box 4">
            <a:extLst>
              <a:ext uri="{FF2B5EF4-FFF2-40B4-BE49-F238E27FC236}">
                <a16:creationId xmlns:a16="http://schemas.microsoft.com/office/drawing/2014/main" id="{47EC8FA6-BCC9-84FC-26E6-99E79F24764D}"/>
              </a:ext>
            </a:extLst>
          </p:cNvPr>
          <p:cNvSpPr/>
          <p:nvPr/>
        </p:nvSpPr>
        <p:spPr>
          <a:xfrm>
            <a:off x="6422000" y="1350000"/>
            <a:ext cx="1550000" cy="750000"/>
          </a:xfrm>
          <a:prstGeom prst="roundRect">
            <a:avLst>
              <a:gd name="adj" fmla="val 6000"/>
            </a:avLst>
          </a:prstGeom>
          <a:solidFill>
            <a:srgbClr val="282840"/>
          </a:solidFill>
          <a:ln w="19050">
            <a:solidFill>
              <a:srgbClr val="C67A52"/>
            </a:solidFill>
          </a:ln>
        </p:spPr>
        <p:txBody>
          <a:bodyPr wrap="square" lIns="91440" tIns="72000" rIns="9144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Evaluate val_bpb</a:t>
            </a:r>
          </a:p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A0A0B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Improved → keep; not improved → discard</a:t>
            </a:r>
          </a:p>
        </p:txBody>
      </p:sp>
      <p:sp>
        <p:nvSpPr>
          <p:cNvPr id="31" name="Conn L">
            <a:extLst>
              <a:ext uri="{FF2B5EF4-FFF2-40B4-BE49-F238E27FC236}">
                <a16:creationId xmlns:a16="http://schemas.microsoft.com/office/drawing/2014/main" id="{0AB40D12-CE08-01AC-68D7-CFF6D6D9C8D0}"/>
              </a:ext>
            </a:extLst>
          </p:cNvPr>
          <p:cNvSpPr/>
          <p:nvPr/>
        </p:nvSpPr>
        <p:spPr>
          <a:xfrm>
            <a:off x="3672000" y="2100000"/>
            <a:ext cx="50000" cy="120000"/>
          </a:xfrm>
          <a:prstGeom prst="rect">
            <a:avLst/>
          </a:prstGeom>
          <a:solidFill>
            <a:srgbClr val="C67A52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Conn R">
            <a:extLst>
              <a:ext uri="{FF2B5EF4-FFF2-40B4-BE49-F238E27FC236}">
                <a16:creationId xmlns:a16="http://schemas.microsoft.com/office/drawing/2014/main" id="{087F6F8F-0E3D-F9EE-2674-DEFA895F24A4}"/>
              </a:ext>
            </a:extLst>
          </p:cNvPr>
          <p:cNvSpPr/>
          <p:nvPr/>
        </p:nvSpPr>
        <p:spPr>
          <a:xfrm>
            <a:off x="7172000" y="2100000"/>
            <a:ext cx="50000" cy="120000"/>
          </a:xfrm>
          <a:prstGeom prst="rect">
            <a:avLst/>
          </a:prstGeom>
          <a:solidFill>
            <a:srgbClr val="C67A52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Loop Bar">
            <a:extLst>
              <a:ext uri="{FF2B5EF4-FFF2-40B4-BE49-F238E27FC236}">
                <a16:creationId xmlns:a16="http://schemas.microsoft.com/office/drawing/2014/main" id="{BA912A04-0132-4225-3E90-CD2A9E77223D}"/>
              </a:ext>
            </a:extLst>
          </p:cNvPr>
          <p:cNvSpPr/>
          <p:nvPr/>
        </p:nvSpPr>
        <p:spPr>
          <a:xfrm>
            <a:off x="2922000" y="2220000"/>
            <a:ext cx="5050000" cy="220000"/>
          </a:xfrm>
          <a:prstGeom prst="roundRect">
            <a:avLst>
              <a:gd name="adj" fmla="val 16667"/>
            </a:avLst>
          </a:prstGeom>
          <a:solidFill>
            <a:srgbClr val="303050"/>
          </a:solidFill>
          <a:ln w="12700">
            <a:solidFill>
              <a:srgbClr val="C67A52"/>
            </a:solidFill>
          </a:ln>
        </p:spPr>
        <p:txBody>
          <a:bodyPr wrap="square" lIns="91440" tIns="0" rIns="9144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C67A5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A0A0B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Repeat: modify → train → evaluate → keep/discard → iterate again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46DE804-6BE4-E236-2961-6115426E6B39}"/>
              </a:ext>
            </a:extLst>
          </p:cNvPr>
          <p:cNvSpPr/>
          <p:nvPr/>
        </p:nvSpPr>
        <p:spPr>
          <a:xfrm>
            <a:off x="353434" y="2650000"/>
            <a:ext cx="30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300" normalizeH="0" baseline="0" noProof="0" dirty="0">
                <a:ln>
                  <a:noFill/>
                </a:ln>
                <a:solidFill>
                  <a:srgbClr val="C67A5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WHAT IT ACHIEVES</a:t>
            </a:r>
          </a:p>
        </p:txBody>
      </p:sp>
      <p:sp>
        <p:nvSpPr>
          <p:cNvPr id="40" name="Card 1">
            <a:extLst>
              <a:ext uri="{FF2B5EF4-FFF2-40B4-BE49-F238E27FC236}">
                <a16:creationId xmlns:a16="http://schemas.microsoft.com/office/drawing/2014/main" id="{E3EA1986-CC9D-6859-7DCB-F7496E9BCAE9}"/>
              </a:ext>
            </a:extLst>
          </p:cNvPr>
          <p:cNvSpPr/>
          <p:nvPr/>
        </p:nvSpPr>
        <p:spPr>
          <a:xfrm>
            <a:off x="353434" y="2900000"/>
            <a:ext cx="2700000" cy="15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 wrap="square" lIns="137160" tIns="91440" rIns="137160" bIns="9144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~12x / hour</a:t>
            </a: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Fixed 5-min training budget enables rapid experiment iteration</a:t>
            </a:r>
          </a:p>
        </p:txBody>
      </p:sp>
      <p:sp>
        <p:nvSpPr>
          <p:cNvPr id="41" name="Card 2">
            <a:extLst>
              <a:ext uri="{FF2B5EF4-FFF2-40B4-BE49-F238E27FC236}">
                <a16:creationId xmlns:a16="http://schemas.microsoft.com/office/drawing/2014/main" id="{D85F6B37-D8EC-F67F-D1DE-645C2E0BD5A4}"/>
              </a:ext>
            </a:extLst>
          </p:cNvPr>
          <p:cNvSpPr/>
          <p:nvPr/>
        </p:nvSpPr>
        <p:spPr>
          <a:xfrm>
            <a:off x="3222000" y="2900000"/>
            <a:ext cx="2700000" cy="15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 wrap="square" lIns="137160" tIns="91440" rIns="137160" bIns="9144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2A9D8F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~100 / night</a:t>
            </a: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Agents run autonomously while researchers sleep</a:t>
            </a:r>
          </a:p>
        </p:txBody>
      </p:sp>
      <p:sp>
        <p:nvSpPr>
          <p:cNvPr id="42" name="Card 3">
            <a:extLst>
              <a:ext uri="{FF2B5EF4-FFF2-40B4-BE49-F238E27FC236}">
                <a16:creationId xmlns:a16="http://schemas.microsoft.com/office/drawing/2014/main" id="{628B8603-A0C9-19D0-B2F8-D49CC20211B2}"/>
              </a:ext>
            </a:extLst>
          </p:cNvPr>
          <p:cNvSpPr/>
          <p:nvPr/>
        </p:nvSpPr>
        <p:spPr>
          <a:xfrm>
            <a:off x="6090566" y="2900000"/>
            <a:ext cx="2700000" cy="15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 wrap="square" lIns="137160" tIns="91440" rIns="137160" bIns="9144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A90D9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1 GPU</a:t>
            </a: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Self-contained on H100; community ports for Mac, AMD, Windows</a:t>
            </a:r>
          </a:p>
        </p:txBody>
      </p:sp>
      <p:sp>
        <p:nvSpPr>
          <p:cNvPr id="50" name="Text 49">
            <a:extLst>
              <a:ext uri="{FF2B5EF4-FFF2-40B4-BE49-F238E27FC236}">
                <a16:creationId xmlns:a16="http://schemas.microsoft.com/office/drawing/2014/main" id="{31136439-B4A8-61AE-2749-95EE125311A5}"/>
              </a:ext>
            </a:extLst>
          </p:cNvPr>
          <p:cNvSpPr/>
          <p:nvPr/>
        </p:nvSpPr>
        <p:spPr>
          <a:xfrm>
            <a:off x="8412480" y="47091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B6B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4773713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4F346B-616A-6A29-0012-DDB2FBCA2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C575AE4-7335-1870-35BC-431D1ED94D21}"/>
              </a:ext>
            </a:extLst>
          </p:cNvPr>
          <p:cNvSpPr/>
          <p:nvPr/>
        </p:nvSpPr>
        <p:spPr>
          <a:xfrm>
            <a:off x="548640" y="3657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300" normalizeH="0" baseline="0" noProof="0" dirty="0">
                <a:ln>
                  <a:noFill/>
                </a:ln>
                <a:solidFill>
                  <a:srgbClr val="C67A5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83D527D-CF48-FC8D-948C-E60B6998EC78}"/>
              </a:ext>
            </a:extLst>
          </p:cNvPr>
          <p:cNvSpPr/>
          <p:nvPr/>
        </p:nvSpPr>
        <p:spPr>
          <a:xfrm>
            <a:off x="548640" y="4800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r>
              <a:rPr lang="en-US" sz="28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tages</a:t>
            </a: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 Agent Autonomy on Research 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rgia" pitchFamily="34" charset="0"/>
              <a:ea typeface="Georgia" pitchFamily="34" charset="-122"/>
              <a:cs typeface="Georgia" pitchFamily="34" charset="-12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EB05FBE-F578-D3E3-51D2-24BFF7C7393D}"/>
              </a:ext>
            </a:extLst>
          </p:cNvPr>
          <p:cNvSpPr/>
          <p:nvPr/>
        </p:nvSpPr>
        <p:spPr>
          <a:xfrm>
            <a:off x="8412480" y="47091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B6B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3529269-54E5-3274-7C22-571AA80246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098" y="1234440"/>
            <a:ext cx="8473998" cy="3389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492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3434" y="293842"/>
            <a:ext cx="774204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6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53434" y="522442"/>
            <a:ext cx="851624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Synapse?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53434" y="1162522"/>
            <a:ext cx="851624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Synapse behaves like a research operating system: a shared workspace for humans, an execution plane for agents, and a control plane for compute and outputs.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412480" y="47091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20116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7" name="Shape 5"/>
          <p:cNvSpPr/>
          <p:nvPr/>
        </p:nvSpPr>
        <p:spPr>
          <a:xfrm>
            <a:off x="475488" y="2035618"/>
            <a:ext cx="457200" cy="54864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8" name="Text 6"/>
          <p:cNvSpPr/>
          <p:nvPr/>
        </p:nvSpPr>
        <p:spPr>
          <a:xfrm>
            <a:off x="475488" y="2144731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context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5488" y="233172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Projects, questions, experiments, documents, insights, and related works stay connected instead of being split across separate tools.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14600" y="1737360"/>
            <a:ext cx="20116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1" name="Shape 9"/>
          <p:cNvSpPr/>
          <p:nvPr/>
        </p:nvSpPr>
        <p:spPr>
          <a:xfrm>
            <a:off x="2624328" y="2037521"/>
            <a:ext cx="457200" cy="54864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2" name="Text 10"/>
          <p:cNvSpPr/>
          <p:nvPr/>
        </p:nvSpPr>
        <p:spPr>
          <a:xfrm>
            <a:off x="2606040" y="2144731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+ agent loop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24328" y="233172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can stay in the loop for review while agents accelerate execution, reporting, and follow-up proposals.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1737360"/>
            <a:ext cx="20116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5" name="Shape 13"/>
          <p:cNvSpPr/>
          <p:nvPr/>
        </p:nvSpPr>
        <p:spPr>
          <a:xfrm>
            <a:off x="4773168" y="2037521"/>
            <a:ext cx="457200" cy="54864"/>
          </a:xfrm>
          <a:prstGeom prst="rect">
            <a:avLst/>
          </a:prstGeom>
          <a:solidFill>
            <a:srgbClr val="C67A5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6" name="Text 14"/>
          <p:cNvSpPr/>
          <p:nvPr/>
        </p:nvSpPr>
        <p:spPr>
          <a:xfrm>
            <a:off x="4773168" y="2144731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6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Execution-native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73168" y="233172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 are first-class entities with status, live telemetry, progress logs, reservations, and report generation.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12280" y="1737360"/>
            <a:ext cx="20116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9" name="Shape 17"/>
          <p:cNvSpPr/>
          <p:nvPr/>
        </p:nvSpPr>
        <p:spPr>
          <a:xfrm>
            <a:off x="6922008" y="2037521"/>
            <a:ext cx="457200" cy="54864"/>
          </a:xfrm>
          <a:prstGeom prst="rect">
            <a:avLst/>
          </a:prstGeom>
          <a:solidFill>
            <a:srgbClr val="E76F6F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0" name="Text 18"/>
          <p:cNvSpPr/>
          <p:nvPr/>
        </p:nvSpPr>
        <p:spPr>
          <a:xfrm>
            <a:off x="6922008" y="2144731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7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Infra-aware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922008" y="233172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pools, safe access bundles, realtime events, and MCP tooling are part of the product, not side integrations.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92608" y="3890309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282840"/>
          </a:solidFill>
          <a:ln/>
        </p:spPr>
        <p:txBody>
          <a:bodyPr/>
          <a:lstStyle/>
          <a:p>
            <a:endParaRPr lang="en-CN" dirty="0"/>
          </a:p>
        </p:txBody>
      </p:sp>
      <p:sp>
        <p:nvSpPr>
          <p:cNvPr id="24" name="Text 22"/>
          <p:cNvSpPr/>
          <p:nvPr/>
        </p:nvSpPr>
        <p:spPr>
          <a:xfrm>
            <a:off x="1230073" y="3911114"/>
            <a:ext cx="6683853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just </a:t>
            </a:r>
            <a:r>
              <a:rPr lang="en-US" sz="2000" b="1" u="sng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RESEARCH</a:t>
            </a:r>
            <a:r>
              <a:rPr lang="en-US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Synapse takes care of everything else</a:t>
            </a:r>
            <a:endParaRPr lang="en-US" dirty="0">
              <a:solidFill>
                <a:srgbClr val="FFC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849" y="4423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6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14026" y="637846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Synapse 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53123" y="1049355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Synapse coordinates the full lifecycle of research work, from initial framing to execution, reporting, and rolling synthesis.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53123" y="1394597"/>
            <a:ext cx="7968527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is organized around research-native objects rather than generic tickets or jobs. </a:t>
            </a:r>
            <a:r>
              <a:rPr lang="en-US" sz="1200" u="sng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Researchers and agents share the same project context, the same execution queue, and the same output surfaces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>
              <a:lnSpc>
                <a:spcPct val="140000"/>
              </a:lnSpc>
              <a:buNone/>
            </a:pPr>
            <a:endParaRPr lang="en-US" sz="1100" dirty="0"/>
          </a:p>
        </p:txBody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653C83CF-BA01-50F6-FB45-7B2F65B8CA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8410" y="2064180"/>
            <a:ext cx="8327179" cy="26369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E1E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0AFC3F-5241-99E0-2ACF-5B6273C1C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CEBC75C-E14A-957C-839D-4770F53FA3FE}"/>
              </a:ext>
            </a:extLst>
          </p:cNvPr>
          <p:cNvSpPr/>
          <p:nvPr/>
        </p:nvSpPr>
        <p:spPr>
          <a:xfrm>
            <a:off x="342849" y="4423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6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C62321A-D018-E1EB-9C10-4D6B2ECFEA08}"/>
              </a:ext>
            </a:extLst>
          </p:cNvPr>
          <p:cNvSpPr/>
          <p:nvPr/>
        </p:nvSpPr>
        <p:spPr>
          <a:xfrm>
            <a:off x="342849" y="6709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Synapse is</a:t>
            </a:r>
            <a:endParaRPr lang="en-US" sz="2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CBF3735-4459-1872-2128-A062037B3689}"/>
              </a:ext>
            </a:extLst>
          </p:cNvPr>
          <p:cNvSpPr/>
          <p:nvPr/>
        </p:nvSpPr>
        <p:spPr>
          <a:xfrm>
            <a:off x="353123" y="110763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Synapse coordinates the full lifecycle of research work, from initial framing to execution, reporting, and rolling synthesis.</a:t>
            </a:r>
            <a:endParaRPr lang="en-US" sz="11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A294BCE-AC5A-3196-CD6B-CBABFC3639E1}"/>
              </a:ext>
            </a:extLst>
          </p:cNvPr>
          <p:cNvSpPr/>
          <p:nvPr/>
        </p:nvSpPr>
        <p:spPr>
          <a:xfrm>
            <a:off x="342849" y="1785314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is organized around research-native objects rather than generic tickets or jobs. </a:t>
            </a:r>
            <a:r>
              <a:rPr lang="en-US" sz="1200" u="sng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Researchers and agents share the same project context, the same execution queue, and the same output surfaces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>
              <a:lnSpc>
                <a:spcPct val="140000"/>
              </a:lnSpc>
              <a:buNone/>
            </a:pPr>
            <a:endParaRPr lang="en-US" sz="11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D0A0BF7B-1478-E841-4501-884E1A48D086}"/>
              </a:ext>
            </a:extLst>
          </p:cNvPr>
          <p:cNvSpPr/>
          <p:nvPr/>
        </p:nvSpPr>
        <p:spPr>
          <a:xfrm>
            <a:off x="342849" y="2848174"/>
            <a:ext cx="109728" cy="109728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en-CN" sz="1200">
              <a:solidFill>
                <a:schemeClr val="bg1"/>
              </a:solidFill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9E3CC13-E46A-CE87-B3F1-CCD9D114B8A0}"/>
              </a:ext>
            </a:extLst>
          </p:cNvPr>
          <p:cNvSpPr/>
          <p:nvPr/>
        </p:nvSpPr>
        <p:spPr>
          <a:xfrm>
            <a:off x="571449" y="2802454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Project-centric workspace with datasets, evaluation methods, documents, and synthesis.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5F5B4FAB-20BE-A955-D589-640381C16AE1}"/>
              </a:ext>
            </a:extLst>
          </p:cNvPr>
          <p:cNvSpPr/>
          <p:nvPr/>
        </p:nvSpPr>
        <p:spPr>
          <a:xfrm>
            <a:off x="342849" y="3305374"/>
            <a:ext cx="109728" cy="109728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CN" sz="1200">
              <a:solidFill>
                <a:schemeClr val="bg1"/>
              </a:solidFill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08B983F-0809-9E1D-B93F-057C70064D1F}"/>
              </a:ext>
            </a:extLst>
          </p:cNvPr>
          <p:cNvSpPr/>
          <p:nvPr/>
        </p:nvSpPr>
        <p:spPr>
          <a:xfrm>
            <a:off x="571449" y="3259654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 hierarchy for structured problem decomposition and branching.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3491EBAC-373D-3594-B4D7-827646F83B95}"/>
              </a:ext>
            </a:extLst>
          </p:cNvPr>
          <p:cNvSpPr/>
          <p:nvPr/>
        </p:nvSpPr>
        <p:spPr>
          <a:xfrm>
            <a:off x="342849" y="3762574"/>
            <a:ext cx="109728" cy="109728"/>
          </a:xfrm>
          <a:prstGeom prst="ellipse">
            <a:avLst/>
          </a:prstGeom>
          <a:solidFill>
            <a:srgbClr val="C67A52"/>
          </a:solidFill>
          <a:ln/>
        </p:spPr>
        <p:txBody>
          <a:bodyPr/>
          <a:lstStyle/>
          <a:p>
            <a:endParaRPr lang="en-CN" sz="1200">
              <a:solidFill>
                <a:schemeClr val="bg1"/>
              </a:solidFill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8740DEB-6A1D-A0DC-5D89-567D93C2D75C}"/>
              </a:ext>
            </a:extLst>
          </p:cNvPr>
          <p:cNvSpPr/>
          <p:nvPr/>
        </p:nvSpPr>
        <p:spPr>
          <a:xfrm>
            <a:off x="571449" y="3716854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Experiment-first execution model with review, assignment, live progress, and results.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7A604B21-15D5-8BC9-F8AA-686EF0B1C123}"/>
              </a:ext>
            </a:extLst>
          </p:cNvPr>
          <p:cNvSpPr/>
          <p:nvPr/>
        </p:nvSpPr>
        <p:spPr>
          <a:xfrm>
            <a:off x="342849" y="4219774"/>
            <a:ext cx="109728" cy="109728"/>
          </a:xfrm>
          <a:prstGeom prst="ellipse">
            <a:avLst/>
          </a:prstGeom>
          <a:solidFill>
            <a:srgbClr val="E76F6F"/>
          </a:solidFill>
          <a:ln/>
        </p:spPr>
        <p:txBody>
          <a:bodyPr/>
          <a:lstStyle/>
          <a:p>
            <a:endParaRPr lang="en-CN" sz="1200">
              <a:solidFill>
                <a:schemeClr val="bg1"/>
              </a:solidFill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A1E2C083-97E0-BEB5-DC76-00214C1E5655}"/>
              </a:ext>
            </a:extLst>
          </p:cNvPr>
          <p:cNvSpPr/>
          <p:nvPr/>
        </p:nvSpPr>
        <p:spPr>
          <a:xfrm>
            <a:off x="571449" y="4174054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support for AI agents, comments, notifications, and autonomous proposal loops.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BFDFA79B-7B5E-7DE1-8115-9690C3137750}"/>
              </a:ext>
            </a:extLst>
          </p:cNvPr>
          <p:cNvSpPr/>
          <p:nvPr/>
        </p:nvSpPr>
        <p:spPr>
          <a:xfrm>
            <a:off x="4274769" y="1744218"/>
            <a:ext cx="14630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32C0291C-843C-642F-75A7-4A3E92211FDB}"/>
              </a:ext>
            </a:extLst>
          </p:cNvPr>
          <p:cNvSpPr/>
          <p:nvPr/>
        </p:nvSpPr>
        <p:spPr>
          <a:xfrm>
            <a:off x="4366209" y="1835658"/>
            <a:ext cx="365760" cy="4572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46F76D84-8292-1EF0-1EC5-C0DF25975E49}"/>
              </a:ext>
            </a:extLst>
          </p:cNvPr>
          <p:cNvSpPr/>
          <p:nvPr/>
        </p:nvSpPr>
        <p:spPr>
          <a:xfrm>
            <a:off x="4347921" y="1945386"/>
            <a:ext cx="1316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ResearchProject</a:t>
            </a:r>
            <a:endParaRPr lang="en-US" sz="10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538E3D08-2448-90E0-25C7-5CC275ED927E}"/>
              </a:ext>
            </a:extLst>
          </p:cNvPr>
          <p:cNvSpPr/>
          <p:nvPr/>
        </p:nvSpPr>
        <p:spPr>
          <a:xfrm>
            <a:off x="4347921" y="2201418"/>
            <a:ext cx="13167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Umbrella object for goals, datasets, evaluation, docs, and synthesis.</a:t>
            </a:r>
            <a:endParaRPr lang="en-US" sz="85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8B2284F4-EE38-44F0-1A07-16CEF99D8D79}"/>
              </a:ext>
            </a:extLst>
          </p:cNvPr>
          <p:cNvSpPr/>
          <p:nvPr/>
        </p:nvSpPr>
        <p:spPr>
          <a:xfrm>
            <a:off x="5874969" y="1744218"/>
            <a:ext cx="14630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C31ED7CA-BBF1-CDE6-ABF7-64D7FD482B13}"/>
              </a:ext>
            </a:extLst>
          </p:cNvPr>
          <p:cNvSpPr/>
          <p:nvPr/>
        </p:nvSpPr>
        <p:spPr>
          <a:xfrm>
            <a:off x="5966409" y="1835658"/>
            <a:ext cx="365760" cy="4572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FCB4927D-AE83-DE59-62F8-0215959870AC}"/>
              </a:ext>
            </a:extLst>
          </p:cNvPr>
          <p:cNvSpPr/>
          <p:nvPr/>
        </p:nvSpPr>
        <p:spPr>
          <a:xfrm>
            <a:off x="5948121" y="1945386"/>
            <a:ext cx="1316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ResearchQuestion</a:t>
            </a:r>
            <a:endParaRPr lang="en-US" sz="10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DE03A688-6D59-7F8E-99AA-BA1D6205BDCB}"/>
              </a:ext>
            </a:extLst>
          </p:cNvPr>
          <p:cNvSpPr/>
          <p:nvPr/>
        </p:nvSpPr>
        <p:spPr>
          <a:xfrm>
            <a:off x="5948121" y="2201418"/>
            <a:ext cx="13167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framing layer that captures question hierarchy.</a:t>
            </a:r>
            <a:endParaRPr lang="en-US" sz="85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970EF47D-0B84-33AE-BD0E-DEA38AEEDAC3}"/>
              </a:ext>
            </a:extLst>
          </p:cNvPr>
          <p:cNvSpPr/>
          <p:nvPr/>
        </p:nvSpPr>
        <p:spPr>
          <a:xfrm>
            <a:off x="7475169" y="1744218"/>
            <a:ext cx="14630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400E2C87-B1E9-7A4A-1BEB-EA08FD357340}"/>
              </a:ext>
            </a:extLst>
          </p:cNvPr>
          <p:cNvSpPr/>
          <p:nvPr/>
        </p:nvSpPr>
        <p:spPr>
          <a:xfrm>
            <a:off x="7566609" y="1835658"/>
            <a:ext cx="365760" cy="45720"/>
          </a:xfrm>
          <a:prstGeom prst="rect">
            <a:avLst/>
          </a:prstGeom>
          <a:solidFill>
            <a:srgbClr val="C67A5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E789354D-D510-74E8-9D61-DCD1B88CF63B}"/>
              </a:ext>
            </a:extLst>
          </p:cNvPr>
          <p:cNvSpPr/>
          <p:nvPr/>
        </p:nvSpPr>
        <p:spPr>
          <a:xfrm>
            <a:off x="7548321" y="1945386"/>
            <a:ext cx="1316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6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</a:t>
            </a:r>
            <a:endParaRPr lang="en-US" sz="10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FA4A93EA-7E73-C230-5DC6-CEDEA93FCF19}"/>
              </a:ext>
            </a:extLst>
          </p:cNvPr>
          <p:cNvSpPr/>
          <p:nvPr/>
        </p:nvSpPr>
        <p:spPr>
          <a:xfrm>
            <a:off x="7548321" y="2201418"/>
            <a:ext cx="13167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execution unit with status, assignment, live progress.</a:t>
            </a:r>
            <a:endParaRPr lang="en-US" sz="85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F90C77F2-4F10-1C35-A2CE-0A914A0C008C}"/>
              </a:ext>
            </a:extLst>
          </p:cNvPr>
          <p:cNvSpPr/>
          <p:nvPr/>
        </p:nvSpPr>
        <p:spPr>
          <a:xfrm>
            <a:off x="4274769" y="3161538"/>
            <a:ext cx="14630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EB91D6D5-099D-11B3-FD93-B0C31D9FF825}"/>
              </a:ext>
            </a:extLst>
          </p:cNvPr>
          <p:cNvSpPr/>
          <p:nvPr/>
        </p:nvSpPr>
        <p:spPr>
          <a:xfrm>
            <a:off x="4366209" y="3252978"/>
            <a:ext cx="365760" cy="45720"/>
          </a:xfrm>
          <a:prstGeom prst="rect">
            <a:avLst/>
          </a:prstGeom>
          <a:solidFill>
            <a:srgbClr val="E76F6F"/>
          </a:solidFill>
          <a:ln/>
        </p:spPr>
        <p:txBody>
          <a:bodyPr/>
          <a:lstStyle/>
          <a:p>
            <a:endParaRPr lang="en-CN" sz="1200">
              <a:solidFill>
                <a:schemeClr val="bg1"/>
              </a:solidFill>
            </a:endParaRPr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D67D16BB-5A3D-3F44-144D-E6AC9B4B4B1D}"/>
              </a:ext>
            </a:extLst>
          </p:cNvPr>
          <p:cNvSpPr/>
          <p:nvPr/>
        </p:nvSpPr>
        <p:spPr>
          <a:xfrm>
            <a:off x="4347921" y="3362706"/>
            <a:ext cx="1316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7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0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7C2C7FC2-1CFA-FA3A-0FDA-4867FAACECC2}"/>
              </a:ext>
            </a:extLst>
          </p:cNvPr>
          <p:cNvSpPr/>
          <p:nvPr/>
        </p:nvSpPr>
        <p:spPr>
          <a:xfrm>
            <a:off x="4347921" y="3618738"/>
            <a:ext cx="13167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docs, experiment reports, literature reviews, synthesis.</a:t>
            </a:r>
            <a:endParaRPr lang="en-US" sz="850" dirty="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1C93B7A1-EC52-E635-2ADF-CAF3253F35E2}"/>
              </a:ext>
            </a:extLst>
          </p:cNvPr>
          <p:cNvSpPr/>
          <p:nvPr/>
        </p:nvSpPr>
        <p:spPr>
          <a:xfrm>
            <a:off x="5874969" y="3161538"/>
            <a:ext cx="14630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B3DD5444-297A-6D36-B5E3-361EBFACF51E}"/>
              </a:ext>
            </a:extLst>
          </p:cNvPr>
          <p:cNvSpPr/>
          <p:nvPr/>
        </p:nvSpPr>
        <p:spPr>
          <a:xfrm>
            <a:off x="5966409" y="3252978"/>
            <a:ext cx="365760" cy="4572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AA84EC51-9082-98E1-1A9F-FF9B9EC7D65C}"/>
              </a:ext>
            </a:extLst>
          </p:cNvPr>
          <p:cNvSpPr/>
          <p:nvPr/>
        </p:nvSpPr>
        <p:spPr>
          <a:xfrm>
            <a:off x="5948121" y="3362706"/>
            <a:ext cx="1316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100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48FE48BC-DB92-503A-B35C-1C5B88863373}"/>
              </a:ext>
            </a:extLst>
          </p:cNvPr>
          <p:cNvSpPr/>
          <p:nvPr/>
        </p:nvSpPr>
        <p:spPr>
          <a:xfrm>
            <a:off x="5948121" y="3618738"/>
            <a:ext cx="13167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Pools, nodes, GPUs, reservations, and safe access bundles.</a:t>
            </a:r>
            <a:endParaRPr lang="en-US" sz="850" dirty="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6B8F2A46-0F27-37A8-F7FD-96029DB3221D}"/>
              </a:ext>
            </a:extLst>
          </p:cNvPr>
          <p:cNvSpPr/>
          <p:nvPr/>
        </p:nvSpPr>
        <p:spPr>
          <a:xfrm>
            <a:off x="7475169" y="3161538"/>
            <a:ext cx="14630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889FDCB8-BBE6-8F44-42FC-CFD44BC203A6}"/>
              </a:ext>
            </a:extLst>
          </p:cNvPr>
          <p:cNvSpPr/>
          <p:nvPr/>
        </p:nvSpPr>
        <p:spPr>
          <a:xfrm>
            <a:off x="7566609" y="3252978"/>
            <a:ext cx="365760" cy="45720"/>
          </a:xfrm>
          <a:prstGeom prst="rect">
            <a:avLst/>
          </a:prstGeom>
          <a:solidFill>
            <a:srgbClr val="6B5CE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8409DABE-174A-7C22-BC9E-B82CE27894DD}"/>
              </a:ext>
            </a:extLst>
          </p:cNvPr>
          <p:cNvSpPr/>
          <p:nvPr/>
        </p:nvSpPr>
        <p:spPr>
          <a:xfrm>
            <a:off x="7548321" y="3362706"/>
            <a:ext cx="1316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AgentSession</a:t>
            </a:r>
            <a:endParaRPr lang="en-US" sz="1000" dirty="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BD48077C-7173-0127-4E9F-C66DDA6A516E}"/>
              </a:ext>
            </a:extLst>
          </p:cNvPr>
          <p:cNvSpPr/>
          <p:nvPr/>
        </p:nvSpPr>
        <p:spPr>
          <a:xfrm>
            <a:off x="7548321" y="3618738"/>
            <a:ext cx="13167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for long-running or delegated agent work.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18226538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3434" y="3657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6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22612" y="511653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Workspace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56513" y="965259"/>
            <a:ext cx="851316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Synapse combines portfolio management with a project dashboard that keeps research context, execution, and outputs in one place.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412480" y="47091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471262"/>
            <a:ext cx="4206240" cy="320040"/>
          </a:xfrm>
          <a:prstGeom prst="roundRect">
            <a:avLst>
              <a:gd name="adj" fmla="val 14286"/>
            </a:avLst>
          </a:prstGeom>
          <a:solidFill>
            <a:srgbClr val="2A9D8F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7" name="Text 5"/>
          <p:cNvSpPr/>
          <p:nvPr/>
        </p:nvSpPr>
        <p:spPr>
          <a:xfrm>
            <a:off x="365760" y="147126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and grouped project views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09160" y="1471262"/>
            <a:ext cx="4069080" cy="320040"/>
          </a:xfrm>
          <a:prstGeom prst="roundRect">
            <a:avLst>
              <a:gd name="adj" fmla="val 14286"/>
            </a:avLst>
          </a:prstGeom>
          <a:solidFill>
            <a:srgbClr val="C67A5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0" name="Text 7"/>
          <p:cNvSpPr/>
          <p:nvPr/>
        </p:nvSpPr>
        <p:spPr>
          <a:xfrm>
            <a:off x="4709160" y="1471262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dashboard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365760" y="448878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can be grouped by initiative, with roll-up counts and completion metrics.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3" name="Text 9"/>
          <p:cNvSpPr/>
          <p:nvPr/>
        </p:nvSpPr>
        <p:spPr>
          <a:xfrm>
            <a:off x="4709160" y="4488782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project surfaces research</a:t>
            </a:r>
            <a:r>
              <a:rPr lang="zh-CN" alt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questions, experiments, insights, and documents at a glance.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6C0D1B6-DCBA-ED21-C8B2-640906C69D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886" y="1791302"/>
            <a:ext cx="4181787" cy="254280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5DC4CF3-C1D1-6FF9-917E-110501CE4B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1791302"/>
            <a:ext cx="4069080" cy="25431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7817" y="32902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6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17817" y="526806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Questions to Experiments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17817" y="1166886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framing is visible as a question canvas, while execution happens on a five-column experiment board with live state and progress.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412480" y="47091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738386"/>
            <a:ext cx="4206240" cy="320040"/>
          </a:xfrm>
          <a:prstGeom prst="roundRect">
            <a:avLst>
              <a:gd name="adj" fmla="val 14286"/>
            </a:avLst>
          </a:prstGeom>
          <a:solidFill>
            <a:srgbClr val="C67A5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7" name="Text 5"/>
          <p:cNvSpPr/>
          <p:nvPr/>
        </p:nvSpPr>
        <p:spPr>
          <a:xfrm>
            <a:off x="365760" y="1738386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 canvas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09160" y="1738386"/>
            <a:ext cx="4069080" cy="320040"/>
          </a:xfrm>
          <a:prstGeom prst="roundRect">
            <a:avLst>
              <a:gd name="adj" fmla="val 14286"/>
            </a:avLst>
          </a:prstGeom>
          <a:solidFill>
            <a:srgbClr val="2A9D8F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0" name="Text 7"/>
          <p:cNvSpPr/>
          <p:nvPr/>
        </p:nvSpPr>
        <p:spPr>
          <a:xfrm>
            <a:off x="4709160" y="1738386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pipeline board</a:t>
            </a:r>
            <a:endParaRPr lang="en-US" sz="11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748F282-8679-1C0E-DDC5-526CA7D380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628" y="2058426"/>
            <a:ext cx="4169664" cy="260604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5BE7DDC-AB37-B15E-4C43-B5C4DBCF31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6304" y="2061088"/>
            <a:ext cx="4061936" cy="258584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352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6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232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Orchestration &amp; Automation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163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Synapse treats agents as first-class operators with composable permissions, MCP tools, notifications, and autonomous follow-up behavior.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412480" y="47091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2852" y="1708076"/>
            <a:ext cx="4249148" cy="294639"/>
          </a:xfrm>
          <a:prstGeom prst="roundRect">
            <a:avLst>
              <a:gd name="adj" fmla="val 14286"/>
            </a:avLst>
          </a:prstGeom>
          <a:solidFill>
            <a:srgbClr val="2A9D8F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7" name="Text 5"/>
          <p:cNvSpPr/>
          <p:nvPr/>
        </p:nvSpPr>
        <p:spPr>
          <a:xfrm>
            <a:off x="322852" y="1708076"/>
            <a:ext cx="4249148" cy="2946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management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09160" y="1691640"/>
            <a:ext cx="40690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0" name="Text 7"/>
          <p:cNvSpPr/>
          <p:nvPr/>
        </p:nvSpPr>
        <p:spPr>
          <a:xfrm>
            <a:off x="4846320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model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846320" y="2148840"/>
            <a:ext cx="868680" cy="256032"/>
          </a:xfrm>
          <a:prstGeom prst="roundRect">
            <a:avLst>
              <a:gd name="adj" fmla="val 14286"/>
            </a:avLst>
          </a:prstGeom>
          <a:solidFill>
            <a:srgbClr val="4A90D9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2" name="Text 9"/>
          <p:cNvSpPr/>
          <p:nvPr/>
        </p:nvSpPr>
        <p:spPr>
          <a:xfrm>
            <a:off x="4846320" y="2148840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pre_research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5806440" y="2148840"/>
            <a:ext cx="868680" cy="256032"/>
          </a:xfrm>
          <a:prstGeom prst="roundRect">
            <a:avLst>
              <a:gd name="adj" fmla="val 14286"/>
            </a:avLst>
          </a:prstGeom>
          <a:solidFill>
            <a:srgbClr val="2A9D8F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4" name="Text 11"/>
          <p:cNvSpPr/>
          <p:nvPr/>
        </p:nvSpPr>
        <p:spPr>
          <a:xfrm>
            <a:off x="5806440" y="2148840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research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6766560" y="2148840"/>
            <a:ext cx="868680" cy="256032"/>
          </a:xfrm>
          <a:prstGeom prst="roundRect">
            <a:avLst>
              <a:gd name="adj" fmla="val 14286"/>
            </a:avLst>
          </a:prstGeom>
          <a:solidFill>
            <a:srgbClr val="C67A5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6" name="Text 13"/>
          <p:cNvSpPr/>
          <p:nvPr/>
        </p:nvSpPr>
        <p:spPr>
          <a:xfrm>
            <a:off x="6766560" y="2148840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experiment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7726680" y="2148840"/>
            <a:ext cx="868680" cy="256032"/>
          </a:xfrm>
          <a:prstGeom prst="roundRect">
            <a:avLst>
              <a:gd name="adj" fmla="val 14286"/>
            </a:avLst>
          </a:prstGeom>
          <a:solidFill>
            <a:srgbClr val="6B5CE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8" name="Text 15"/>
          <p:cNvSpPr/>
          <p:nvPr/>
        </p:nvSpPr>
        <p:spPr>
          <a:xfrm>
            <a:off x="7726680" y="2148840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846320" y="24871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can combine these permissions to match their responsibilities rather than fitting into one rigid role.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709160" y="3017520"/>
            <a:ext cx="40690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1" name="Text 18"/>
          <p:cNvSpPr/>
          <p:nvPr/>
        </p:nvSpPr>
        <p:spPr>
          <a:xfrm>
            <a:off x="4846320" y="3108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behavior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892040" y="3511296"/>
            <a:ext cx="91440" cy="91440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3" name="Text 20"/>
          <p:cNvSpPr/>
          <p:nvPr/>
        </p:nvSpPr>
        <p:spPr>
          <a:xfrm>
            <a:off x="5074920" y="347472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tools expose project context, experiment control, literature search, compute, and comments.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892040" y="3831336"/>
            <a:ext cx="91440" cy="91440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5" name="Text 22"/>
          <p:cNvSpPr/>
          <p:nvPr/>
        </p:nvSpPr>
        <p:spPr>
          <a:xfrm>
            <a:off x="5074920" y="379476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OpenClaw plugin converts Synapse notifications into isolated /hooks/agent turns.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4892040" y="4151376"/>
            <a:ext cx="91440" cy="91440"/>
          </a:xfrm>
          <a:prstGeom prst="ellipse">
            <a:avLst/>
          </a:prstGeom>
          <a:solidFill>
            <a:srgbClr val="C67A5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7" name="Text 24"/>
          <p:cNvSpPr/>
          <p:nvPr/>
        </p:nvSpPr>
        <p:spPr>
          <a:xfrm>
            <a:off x="5074920" y="411480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loops let agents propose the next experiments once queues are empty.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892040" y="4471416"/>
            <a:ext cx="91440" cy="91440"/>
          </a:xfrm>
          <a:prstGeom prst="ellipse">
            <a:avLst/>
          </a:prstGeom>
          <a:solidFill>
            <a:srgbClr val="E76F6F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9" name="Text 26"/>
          <p:cNvSpPr/>
          <p:nvPr/>
        </p:nvSpPr>
        <p:spPr>
          <a:xfrm>
            <a:off x="5074920" y="443484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sessions make long-running or delegated work observable instead of opaque.</a:t>
            </a:r>
            <a:endParaRPr lang="en-US" sz="9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FB860A34-5AE5-2E39-2CB4-B44049A644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851" y="2002938"/>
            <a:ext cx="4249148" cy="270964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04116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6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28092" y="460798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Compute-Aware Execution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10087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is not an afterthought: projects can bind to pools, agents can inspect nodes, and GPU reservations are validated against pool boundaries.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412480" y="47091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698318"/>
            <a:ext cx="3703320" cy="3010842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7" name="Text 5"/>
          <p:cNvSpPr/>
          <p:nvPr/>
        </p:nvSpPr>
        <p:spPr>
          <a:xfrm>
            <a:off x="719622" y="188757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compute layer adds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65342" y="2344774"/>
            <a:ext cx="109728" cy="109728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en-CN" sz="1200"/>
          </a:p>
        </p:txBody>
      </p:sp>
      <p:sp>
        <p:nvSpPr>
          <p:cNvPr id="9" name="Text 7"/>
          <p:cNvSpPr/>
          <p:nvPr/>
        </p:nvSpPr>
        <p:spPr>
          <a:xfrm>
            <a:off x="993942" y="2299054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Project-level pool binding constrains where experiments are allowed to reserve GPUs.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65342" y="2894440"/>
            <a:ext cx="109728" cy="109728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CN" sz="1200"/>
          </a:p>
        </p:txBody>
      </p:sp>
      <p:sp>
        <p:nvSpPr>
          <p:cNvPr id="11" name="Text 9"/>
          <p:cNvSpPr/>
          <p:nvPr/>
        </p:nvSpPr>
        <p:spPr>
          <a:xfrm>
            <a:off x="993942" y="28487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expose telemetry such as model, memory, utilization, temperature, and occupancy.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65342" y="3454380"/>
            <a:ext cx="109728" cy="109728"/>
          </a:xfrm>
          <a:prstGeom prst="ellipse">
            <a:avLst/>
          </a:prstGeom>
          <a:solidFill>
            <a:srgbClr val="C67A52"/>
          </a:solidFill>
          <a:ln/>
        </p:spPr>
        <p:txBody>
          <a:bodyPr/>
          <a:lstStyle/>
          <a:p>
            <a:endParaRPr lang="en-CN" sz="1200"/>
          </a:p>
        </p:txBody>
      </p:sp>
      <p:sp>
        <p:nvSpPr>
          <p:cNvPr id="13" name="Text 11"/>
          <p:cNvSpPr/>
          <p:nvPr/>
        </p:nvSpPr>
        <p:spPr>
          <a:xfrm>
            <a:off x="993942" y="34086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request an access bundle rather than receiving server-local SSH key paths.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65342" y="4014320"/>
            <a:ext cx="109728" cy="109728"/>
          </a:xfrm>
          <a:prstGeom prst="ellipse">
            <a:avLst/>
          </a:prstGeom>
          <a:solidFill>
            <a:srgbClr val="E76F6F"/>
          </a:solidFill>
          <a:ln/>
        </p:spPr>
        <p:txBody>
          <a:bodyPr/>
          <a:lstStyle/>
          <a:p>
            <a:endParaRPr lang="en-CN" sz="1200"/>
          </a:p>
        </p:txBody>
      </p:sp>
      <p:sp>
        <p:nvSpPr>
          <p:cNvPr id="15" name="Text 13"/>
          <p:cNvSpPr/>
          <p:nvPr/>
        </p:nvSpPr>
        <p:spPr>
          <a:xfrm>
            <a:off x="993942" y="39686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execution states cover sent, ack, checking resources, queuing, and running.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480560" y="1691640"/>
            <a:ext cx="4297680" cy="320040"/>
          </a:xfrm>
          <a:prstGeom prst="roundRect">
            <a:avLst>
              <a:gd name="adj" fmla="val 14286"/>
            </a:avLst>
          </a:prstGeom>
          <a:solidFill>
            <a:srgbClr val="2A9D8F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8" name="Text 26"/>
          <p:cNvSpPr/>
          <p:nvPr/>
        </p:nvSpPr>
        <p:spPr>
          <a:xfrm>
            <a:off x="4480560" y="16916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pools, machines, and GPU telemetry</a:t>
            </a:r>
            <a:endParaRPr lang="en-US" sz="11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DE8AF3D-73CE-50ED-4C5C-E19111A961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2015676"/>
            <a:ext cx="4297680" cy="26860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372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6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91522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Literature Search &amp; Related Works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923322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Scholar integration, arXiv URL import, auto-search via agents, and deep research reports.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412480" y="47091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C7BB8D7-CD6D-0270-6D36-25077106C9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468" y="1289082"/>
            <a:ext cx="5668666" cy="361997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8160" y="388495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6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36880" y="2215451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60+ MCP Tools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38480" y="270865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6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818640" y="2708656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get_research_project, get_experiment, get_project_full_context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8480" y="3074416"/>
            <a:ext cx="8046720" cy="0"/>
          </a:xfrm>
          <a:prstGeom prst="line">
            <a:avLst/>
          </a:prstGeom>
          <a:noFill/>
          <a:ln w="6350">
            <a:solidFill>
              <a:srgbClr val="3A3A5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" name="Text 6"/>
          <p:cNvSpPr/>
          <p:nvPr/>
        </p:nvSpPr>
        <p:spPr>
          <a:xfrm>
            <a:off x="538480" y="312013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6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18640" y="3120136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search_papers, add_related_work, get_related_works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38480" y="3485896"/>
            <a:ext cx="8046720" cy="0"/>
          </a:xfrm>
          <a:prstGeom prst="line">
            <a:avLst/>
          </a:prstGeom>
          <a:noFill/>
          <a:ln w="6350">
            <a:solidFill>
              <a:srgbClr val="3A3A5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1" name="Text 9"/>
          <p:cNvSpPr/>
          <p:nvPr/>
        </p:nvSpPr>
        <p:spPr>
          <a:xfrm>
            <a:off x="538480" y="353161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6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18640" y="3531616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start_experiment, submit_results, report_progress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38480" y="3897376"/>
            <a:ext cx="8046720" cy="0"/>
          </a:xfrm>
          <a:prstGeom prst="line">
            <a:avLst/>
          </a:prstGeom>
          <a:noFill/>
          <a:ln w="6350">
            <a:solidFill>
              <a:srgbClr val="3A3A5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" name="Text 12"/>
          <p:cNvSpPr/>
          <p:nvPr/>
        </p:nvSpPr>
        <p:spPr>
          <a:xfrm>
            <a:off x="538480" y="394309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6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18640" y="3943096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list_compute_nodes, get_node_access_bundle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38480" y="4308856"/>
            <a:ext cx="8046720" cy="0"/>
          </a:xfrm>
          <a:prstGeom prst="line">
            <a:avLst/>
          </a:prstGeom>
          <a:noFill/>
          <a:ln w="6350">
            <a:solidFill>
              <a:srgbClr val="3A3A5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7" name="Text 15"/>
          <p:cNvSpPr/>
          <p:nvPr/>
        </p:nvSpPr>
        <p:spPr>
          <a:xfrm>
            <a:off x="538480" y="435457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6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818640" y="4354576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propose_experiment (draft for human review)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18160" y="692405"/>
            <a:ext cx="653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</a:rPr>
              <a:t>Connect Your Agent</a:t>
            </a:r>
          </a:p>
        </p:txBody>
      </p:sp>
      <p:sp>
        <p:nvSpPr>
          <p:cNvPr id="23" name="Text 21"/>
          <p:cNvSpPr/>
          <p:nvPr/>
        </p:nvSpPr>
        <p:spPr>
          <a:xfrm>
            <a:off x="538480" y="1281367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</a:t>
            </a:r>
            <a:r>
              <a:rPr lang="en-US" sz="1600" dirty="0">
                <a:solidFill>
                  <a:srgbClr val="6B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200" dirty="0">
                <a:solidFill>
                  <a:srgbClr val="6B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openclaw plugins install @vincentwei1021/synapse-openclaw-plugin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8480" y="1829054"/>
            <a:ext cx="14203680" cy="34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r>
              <a:rPr lang="en-US" sz="1600" dirty="0">
                <a:solidFill>
                  <a:srgbClr val="6B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200" dirty="0">
                <a:solidFill>
                  <a:srgbClr val="6B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/plugin marketplace add</a:t>
            </a:r>
            <a:r>
              <a:rPr lang="zh-CN" altLang="en-US" sz="1200" dirty="0">
                <a:solidFill>
                  <a:srgbClr val="6B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6B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Vincentwei1021/Synapse                                                                            </a:t>
            </a:r>
          </a:p>
          <a:p>
            <a:r>
              <a:rPr lang="zh-CN" altLang="en-US" sz="1200" dirty="0">
                <a:solidFill>
                  <a:srgbClr val="6B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</a:t>
            </a:r>
            <a:r>
              <a:rPr lang="en-US" sz="1200" dirty="0">
                <a:solidFill>
                  <a:srgbClr val="6B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/plugin install </a:t>
            </a:r>
            <a:r>
              <a:rPr lang="en-US" sz="1200" dirty="0" err="1">
                <a:solidFill>
                  <a:srgbClr val="6B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synapse@synapse-plugins</a:t>
            </a:r>
            <a:r>
              <a:rPr lang="en-US" sz="1200" dirty="0">
                <a:solidFill>
                  <a:srgbClr val="6B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</a:p>
          <a:p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916</TotalTime>
  <Words>1079</Words>
  <Application>Microsoft Macintosh PowerPoint</Application>
  <PresentationFormat>On-screen Show (16:9)</PresentationFormat>
  <Paragraphs>152</Paragraphs>
  <Slides>13</Slides>
  <Notes>12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Synapse — Research Orchestration for Humans &amp; AI Agents</dc:title>
  <dc:subject>PptxGenJS Presentation</dc:subject>
  <dc:creator>Vincent Wei</dc:creator>
  <cp:lastModifiedBy>Wei, Yihao</cp:lastModifiedBy>
  <cp:revision>47</cp:revision>
  <dcterms:created xsi:type="dcterms:W3CDTF">2026-04-01T08:24:16Z</dcterms:created>
  <dcterms:modified xsi:type="dcterms:W3CDTF">2026-04-02T19:54:06Z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2026-04-01T08:26:25Z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dc24e15f-cdb1-4973-96d4-bce107b84152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